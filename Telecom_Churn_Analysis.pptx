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72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0B1B8-891A-2703-74EB-DAD49AE71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64F4F-E858-50C9-F359-C0EDE1384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A651A-182C-8B65-4A2A-C368310D5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F2DE6-913A-4BAA-B763-148AC6F4F2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3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31520"/>
            <a:ext cx="1645920" cy="1645920"/>
          </a:xfrm>
          <a:prstGeom prst="ellipse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📊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" y="25603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</a:rPr>
              <a:t>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</a:rPr>
              <a:t>ANALYSIS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</a:rPr>
              <a:t>REPORT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0" y="914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291840" y="2606040"/>
            <a:ext cx="5303520" cy="36576"/>
          </a:xfrm>
          <a:prstGeom prst="rect">
            <a:avLst/>
          </a:prstGeom>
          <a:solidFill>
            <a:srgbClr val="8BAEC8"/>
          </a:solidFill>
          <a:ln w="12700">
            <a:solidFill>
              <a:srgbClr val="8BAE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788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BAEC8"/>
                </a:solidFill>
              </a:rPr>
              <a:t>Identifying high-risk customer segments to inform</a:t>
            </a:r>
            <a:endParaRPr lang="en-US" sz="1500" dirty="0"/>
          </a:p>
          <a:p>
            <a:pPr marL="0" indent="0" algn="l">
              <a:buNone/>
            </a:pPr>
            <a:r>
              <a:rPr lang="en-US" sz="1500" i="1" dirty="0">
                <a:solidFill>
                  <a:srgbClr val="8BAEC8"/>
                </a:solidFill>
              </a:rPr>
              <a:t>targeted retention strategies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91840" y="402336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40233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402336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40233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402336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40233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402336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40233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Seaborn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1600200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53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0"/>
                </a:solidFill>
              </a:rPr>
              <a:t>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E68"/>
                </a:solidFill>
              </a:rPr>
              <a:t>Identify and quantify factors driving customer churn to enable targeted retention strategies.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64008" cy="1600200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353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3212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0"/>
                </a:solidFill>
              </a:rPr>
              <a:t>Dataset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3212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E68"/>
                </a:solidFill>
              </a:rPr>
              <a:t>Telecom/streaming provider data with demographics, contract details, services, and billing info.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64008" cy="1600200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182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5156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0"/>
                </a:solidFill>
              </a:rPr>
              <a:t>Tools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E68"/>
                </a:solidFill>
              </a:rPr>
              <a:t>Python · Pandas · Matplotlib · Seaborn — using EDA with univariate &amp; bivariate analysis.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17520"/>
            <a:ext cx="64008" cy="1600200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182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53212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0"/>
                </a:solidFill>
              </a:rPr>
              <a:t>Methods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32120" y="3520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E68"/>
                </a:solidFill>
              </a:rPr>
              <a:t>Count plots, bar charts, and pie charts to compare churn vs. non-churn across all features.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469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C8"/>
                </a:solidFill>
              </a:rPr>
              <a:t>Telecom Customer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Overall Churn Rate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1920240" cy="116912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920240" cy="914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2040"/>
                </a:solidFill>
              </a:rPr>
              <a:t>7,043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480"/>
                </a:solidFill>
              </a:rPr>
              <a:t>Total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143000"/>
            <a:ext cx="1920240" cy="116912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143000"/>
            <a:ext cx="1920240" cy="914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3E3E"/>
                </a:solidFill>
              </a:rPr>
              <a:t>26.5%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480"/>
                </a:solidFill>
              </a:rPr>
              <a:t>Churn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143000"/>
            <a:ext cx="1920240" cy="116912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143000"/>
            <a:ext cx="1920240" cy="914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A169"/>
                </a:solidFill>
              </a:rPr>
              <a:t>5,174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480"/>
                </a:solidFill>
              </a:rPr>
              <a:t>Active Customers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143000"/>
            <a:ext cx="1920240" cy="116912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1143000"/>
            <a:ext cx="1920240" cy="914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3E3E"/>
                </a:solidFill>
              </a:rPr>
              <a:t>1,869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2084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480"/>
                </a:solidFill>
              </a:rPr>
              <a:t>Churned Customers</a:t>
            </a:r>
            <a:endParaRPr lang="en-US" sz="1100" dirty="0"/>
          </a:p>
        </p:txBody>
      </p:sp>
      <p:pic>
        <p:nvPicPr>
          <p:cNvPr id="21" name="Image 0" descr="/mnt/user-data/uploads/Screenshot_2026-03-08_0257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03566"/>
            <a:ext cx="8595360" cy="248847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9469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C8"/>
                </a:solidFill>
              </a:rPr>
              <a:t>Telecom Customer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Service-Based Churn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🌐 Fiber Optic users churn most: 1,297 churned vs 1,799 active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7432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972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🔒 No OnlineSecurity → 1,461 churns; with it only 295 churns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7432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0972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📞 Phone service users (4,662 active) show higher total churn (1,699)</a:t>
            </a:r>
            <a:endParaRPr lang="en-US" sz="1000" dirty="0"/>
          </a:p>
        </p:txBody>
      </p:sp>
      <p:pic>
        <p:nvPicPr>
          <p:cNvPr id="11" name="Image 0" descr="/mnt/user-data/uploads/Screenshot_2026-03-08_0258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920240"/>
            <a:ext cx="8778240" cy="29260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9469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C8"/>
                </a:solidFill>
              </a:rPr>
              <a:t>Telecom Customer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Billing &amp; Payment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</a:rPr>
              <a:t>📄 Paperless Billing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480"/>
                </a:solidFill>
              </a:rPr>
              <a:t>1,400 churns (Yes)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480"/>
                </a:solidFill>
              </a:rPr>
              <a:t>vs 469 churns (No)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74320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</a:rPr>
              <a:t>💳 Electronic Check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480"/>
                </a:solidFill>
              </a:rPr>
              <a:t>Highest churn: 1,071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480"/>
                </a:solidFill>
              </a:rPr>
              <a:t>(vs ~258–308 for others)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743200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88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</a:rPr>
              <a:t>🏦 Auto-Pay Methods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480"/>
                </a:solidFill>
              </a:rPr>
              <a:t>Bank transfer &amp; Credit card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480"/>
                </a:solidFill>
              </a:rPr>
              <a:t>have lowest churn rates</a:t>
            </a:r>
            <a:endParaRPr lang="en-US" sz="1100" dirty="0"/>
          </a:p>
        </p:txBody>
      </p:sp>
      <p:pic>
        <p:nvPicPr>
          <p:cNvPr id="17" name="Image 0" descr="/mnt/user-data/uploads/Screenshot_2026-03-08_0258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40280"/>
            <a:ext cx="8595360" cy="25603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9469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C8"/>
                </a:solidFill>
              </a:rPr>
              <a:t>Telecom Customer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109728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1430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Contract 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904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EC8"/>
                </a:solidFill>
              </a:rPr>
              <a:t>Month-to-month contracts drive 1,655 churns vs 48 for two-year contracts.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109728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51560"/>
            <a:ext cx="64008" cy="1097280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15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8FD1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11430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Tenure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4904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EC8"/>
                </a:solidFill>
              </a:rPr>
              <a:t>Low-tenure customers churn most. Long-term customers are significantly more loyal.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4114800" cy="109728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04288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682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23957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Internet Service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74320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EC8"/>
                </a:solidFill>
              </a:rPr>
              <a:t>Fiber optic users churn at nearly 42% rate, signaling quality or pricing issues.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304288"/>
            <a:ext cx="4114800" cy="109728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04288"/>
            <a:ext cx="64008" cy="1097280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3682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8FD1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23957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Support Services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74320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EC8"/>
                </a:solidFill>
              </a:rPr>
              <a:t>Customers without OnlineSecurity or TechSupport churn 4–5× more than subscribers.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557016"/>
            <a:ext cx="4114800" cy="109728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557016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2102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0120" y="364845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Payment Method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99592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EC8"/>
                </a:solidFill>
              </a:rPr>
              <a:t>Electronic check users have 4× the churn of auto-pay users (1,071 vs ~245 avg).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557016"/>
            <a:ext cx="4114800" cy="109728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557016"/>
            <a:ext cx="64008" cy="1097280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62102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8FD1"/>
                </a:solidFill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40680" y="364845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Senior Citizens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399592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EC8"/>
                </a:solidFill>
              </a:rPr>
              <a:t>Seniors churn at ~42% rate compared to ~24% for non-seniors.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469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C8"/>
                </a:solidFill>
              </a:rPr>
              <a:t>Telecom Customer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Retention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7899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64008" cy="11155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1152144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1521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1521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</a:rPr>
              <a:t>📑 Incentivize Long-term Contracts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361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480"/>
                </a:solidFill>
              </a:rPr>
              <a:t>Offer discounts or perks for customers who switch from month-to-month to annual or biennial plans.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78992"/>
            <a:ext cx="64008" cy="11155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152144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1521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1521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</a:rPr>
              <a:t>🔒 Bundle Security &amp; Support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5361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480"/>
                </a:solidFill>
              </a:rPr>
              <a:t>Proactively offer OnlineSecurity and TechSupport add-ons to new and at-risk customers.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34086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340864"/>
            <a:ext cx="64008" cy="1115568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2414016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41401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24140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</a:rPr>
              <a:t>💳 Improve Electronic Check Experience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279806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480"/>
                </a:solidFill>
              </a:rPr>
              <a:t>Investigate friction in the electronic check process. Encourage migration to auto-pay methods.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34086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340864"/>
            <a:ext cx="64008" cy="11155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2414016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241401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24140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</a:rPr>
              <a:t>🌐 Address Fiber Optic Issues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79806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480"/>
                </a:solidFill>
              </a:rPr>
              <a:t>Investigate pricing, quality, or customer service for Fiber optic subscribers showing high churn.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60273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602736"/>
            <a:ext cx="64008" cy="1115568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3675888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6758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36758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</a:rPr>
              <a:t>👴 Senior Citizen Outreach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05993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480"/>
                </a:solidFill>
              </a:rPr>
              <a:t>Design simplified plans or dedicated support channels for senior citizens to improve retention.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60273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02736"/>
            <a:ext cx="64008" cy="1115568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1000" y="3675888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36758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0" y="36758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</a:rPr>
              <a:t>🚀 Early Engagement Programs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405993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480"/>
                </a:solidFill>
              </a:rPr>
              <a:t>Launch onboarding programs for new customers to build habits and engagement in first 12 months.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469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C8"/>
                </a:solidFill>
              </a:rPr>
              <a:t>Telecom Customer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840480" cy="50703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32918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BAEC8"/>
                </a:solidFill>
              </a:rPr>
              <a:t>Customer churn is not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8BAEC8"/>
                </a:solidFill>
              </a:rPr>
              <a:t>random — it follows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8BAEC8"/>
                </a:solidFill>
              </a:rPr>
              <a:t>clear, actionable patterns.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2697480"/>
            <a:ext cx="548640" cy="548640"/>
          </a:xfrm>
          <a:prstGeom prst="ellipse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15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26.5%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C8"/>
                </a:solidFill>
              </a:rPr>
              <a:t>Overall Churn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447288"/>
            <a:ext cx="548640" cy="548640"/>
          </a:xfrm>
          <a:prstGeom prst="ellipse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655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74.5%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72160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C8"/>
                </a:solidFill>
              </a:rPr>
              <a:t>Month-to-month Churners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197096"/>
            <a:ext cx="548640" cy="548640"/>
          </a:xfrm>
          <a:prstGeom prst="ellipse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2153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~45%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47141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C8"/>
                </a:solidFill>
              </a:rPr>
              <a:t>Electronic Check Churn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0" y="365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Strategic Summary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14800" y="868680"/>
            <a:ext cx="4754880" cy="36576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1005840"/>
            <a:ext cx="4663440" cy="658368"/>
          </a:xfrm>
          <a:prstGeom prst="rect">
            <a:avLst/>
          </a:prstGeom>
          <a:solidFill>
            <a:srgbClr val="14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00584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05156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EC8"/>
                </a:solidFill>
              </a:rPr>
              <a:t>Contract type is the single strongest predictor of churn. Month-to-month customers are the primary risk group.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1755648"/>
            <a:ext cx="4663440" cy="658368"/>
          </a:xfrm>
          <a:prstGeom prst="rect">
            <a:avLst/>
          </a:prstGeom>
          <a:solidFill>
            <a:srgbClr val="14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1755648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1801368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EC8"/>
                </a:solidFill>
              </a:rPr>
              <a:t>Electronic check users show 4× higher churn — addressing payment friction could yield quick wins.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0" y="2505456"/>
            <a:ext cx="4663440" cy="658368"/>
          </a:xfrm>
          <a:prstGeom prst="rect">
            <a:avLst/>
          </a:prstGeom>
          <a:solidFill>
            <a:srgbClr val="14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2505456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2551176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EC8"/>
                </a:solidFill>
              </a:rPr>
              <a:t>Promoting OnlineSecurity and TechSupport bundles can significantly reduce churn among at-risk customers.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0" y="3255264"/>
            <a:ext cx="4663440" cy="658368"/>
          </a:xfrm>
          <a:prstGeom prst="rect">
            <a:avLst/>
          </a:prstGeom>
          <a:solidFill>
            <a:srgbClr val="14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3255264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3300984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EC8"/>
                </a:solidFill>
              </a:rPr>
              <a:t>Fiber optic subscribers warrant dedicated investigation into service quality and pricing alignment.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0" y="4005072"/>
            <a:ext cx="4663440" cy="658368"/>
          </a:xfrm>
          <a:prstGeom prst="rect">
            <a:avLst/>
          </a:prstGeom>
          <a:solidFill>
            <a:srgbClr val="14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400507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405079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EC8"/>
                </a:solidFill>
              </a:rPr>
              <a:t>Targeted retention campaigns combining contract incentives, service bundles, and payment migration will be most effective.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8FD1"/>
          </a:solidFill>
          <a:ln w="12700">
            <a:solidFill>
              <a:srgbClr val="1A8FD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96C93-86CF-AB53-1491-EC593A78E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>
            <a:extLst>
              <a:ext uri="{FF2B5EF4-FFF2-40B4-BE49-F238E27FC236}">
                <a16:creationId xmlns:a16="http://schemas.microsoft.com/office/drawing/2014/main" id="{7654C4E5-C2BE-AA0E-3492-419F286DAD2C}"/>
              </a:ext>
            </a:extLst>
          </p:cNvPr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D71C0C77-9811-E646-FF7D-391F21ABF710}"/>
              </a:ext>
            </a:extLst>
          </p:cNvPr>
          <p:cNvSpPr/>
          <p:nvPr/>
        </p:nvSpPr>
        <p:spPr>
          <a:xfrm>
            <a:off x="36576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</a:t>
            </a: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3A7B3C38-E1AC-B378-4216-15BBB283BE96}"/>
              </a:ext>
            </a:extLst>
          </p:cNvPr>
          <p:cNvSpPr/>
          <p:nvPr/>
        </p:nvSpPr>
        <p:spPr>
          <a:xfrm>
            <a:off x="365760" y="9144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bg1"/>
                </a:solidFill>
              </a:rPr>
              <a:t>Exploratory Data Analysis Project</a:t>
            </a:r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610E96C1-3E7B-5460-0AE3-3E622F6229FD}"/>
              </a:ext>
            </a:extLst>
          </p:cNvPr>
          <p:cNvSpPr/>
          <p:nvPr/>
        </p:nvSpPr>
        <p:spPr>
          <a:xfrm>
            <a:off x="365760" y="2103120"/>
            <a:ext cx="411480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08372267-F17E-5B8E-D975-194A56C16C34}"/>
              </a:ext>
            </a:extLst>
          </p:cNvPr>
          <p:cNvSpPr/>
          <p:nvPr/>
        </p:nvSpPr>
        <p:spPr>
          <a:xfrm>
            <a:off x="1005840" y="258699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Business Questions Answered</a:t>
            </a:r>
            <a:endParaRPr lang="en-US" sz="160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DE8E2920-6B25-07DE-BD04-4CC18B8B110F}"/>
              </a:ext>
            </a:extLst>
          </p:cNvPr>
          <p:cNvSpPr/>
          <p:nvPr/>
        </p:nvSpPr>
        <p:spPr>
          <a:xfrm>
            <a:off x="365760" y="2606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3F908014-8D6C-303D-5548-F19D8BFA1E71}"/>
              </a:ext>
            </a:extLst>
          </p:cNvPr>
          <p:cNvSpPr/>
          <p:nvPr/>
        </p:nvSpPr>
        <p:spPr>
          <a:xfrm>
            <a:off x="365760" y="3310128"/>
            <a:ext cx="411480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3282A79C-157E-ED8C-7E0E-8662E768176A}"/>
              </a:ext>
            </a:extLst>
          </p:cNvPr>
          <p:cNvSpPr/>
          <p:nvPr/>
        </p:nvSpPr>
        <p:spPr>
          <a:xfrm>
            <a:off x="365760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viewing!</a:t>
            </a:r>
            <a:endParaRPr lang="en-US" sz="150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81B28A04-6379-99DC-C27E-062FA6D59C18}"/>
              </a:ext>
            </a:extLst>
          </p:cNvPr>
          <p:cNvSpPr/>
          <p:nvPr/>
        </p:nvSpPr>
        <p:spPr>
          <a:xfrm>
            <a:off x="5486400" y="548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C9212D40-0B12-1D2C-6532-DD7BE62D18BB}"/>
              </a:ext>
            </a:extLst>
          </p:cNvPr>
          <p:cNvSpPr/>
          <p:nvPr/>
        </p:nvSpPr>
        <p:spPr>
          <a:xfrm>
            <a:off x="5486400" y="251460"/>
            <a:ext cx="3474720" cy="924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Abhisek Nayak</a:t>
            </a:r>
            <a:endParaRPr lang="en-US" sz="260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83BA3B83-F786-DE2F-7680-210C48477E84}"/>
              </a:ext>
            </a:extLst>
          </p:cNvPr>
          <p:cNvSpPr/>
          <p:nvPr/>
        </p:nvSpPr>
        <p:spPr>
          <a:xfrm>
            <a:off x="5486400" y="914400"/>
            <a:ext cx="3474720" cy="646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</a:t>
            </a:r>
            <a:endParaRPr lang="en-US" sz="1500" dirty="0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2455C988-005F-4FFE-3A39-A610C236D515}"/>
              </a:ext>
            </a:extLst>
          </p:cNvPr>
          <p:cNvSpPr/>
          <p:nvPr/>
        </p:nvSpPr>
        <p:spPr>
          <a:xfrm>
            <a:off x="5669280" y="1463040"/>
            <a:ext cx="3108960" cy="45719"/>
          </a:xfrm>
          <a:prstGeom prst="rect">
            <a:avLst/>
          </a:prstGeom>
          <a:solidFill>
            <a:srgbClr val="C00810"/>
          </a:solidFill>
          <a:ln w="12700">
            <a:solidFill>
              <a:srgbClr val="C00810"/>
            </a:solidFill>
            <a:prstDash val="solid"/>
          </a:ln>
        </p:spPr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30066C78-1411-93E5-D63D-76DAB1B0986B}"/>
              </a:ext>
            </a:extLst>
          </p:cNvPr>
          <p:cNvSpPr/>
          <p:nvPr/>
        </p:nvSpPr>
        <p:spPr>
          <a:xfrm>
            <a:off x="5486400" y="1605425"/>
            <a:ext cx="3474720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Python</a:t>
            </a:r>
            <a:endParaRPr lang="en-US" sz="13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1404D517-18AC-B03E-D393-86830E44B8DB}"/>
              </a:ext>
            </a:extLst>
          </p:cNvPr>
          <p:cNvSpPr/>
          <p:nvPr/>
        </p:nvSpPr>
        <p:spPr>
          <a:xfrm>
            <a:off x="5486400" y="1926771"/>
            <a:ext cx="3474720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SQL &amp; PostgreSQL</a:t>
            </a:r>
            <a:endParaRPr lang="en-US" sz="1300" dirty="0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0A1B2F6A-FA33-DB64-AEC4-4444D2F8E719}"/>
              </a:ext>
            </a:extLst>
          </p:cNvPr>
          <p:cNvSpPr/>
          <p:nvPr/>
        </p:nvSpPr>
        <p:spPr>
          <a:xfrm>
            <a:off x="5486400" y="2240280"/>
            <a:ext cx="3474720" cy="41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Power BI</a:t>
            </a:r>
            <a:endParaRPr lang="en-US" sz="130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F04544B1-206F-212C-F4F3-054F428257BB}"/>
              </a:ext>
            </a:extLst>
          </p:cNvPr>
          <p:cNvSpPr/>
          <p:nvPr/>
        </p:nvSpPr>
        <p:spPr>
          <a:xfrm>
            <a:off x="5486400" y="2571750"/>
            <a:ext cx="3474720" cy="378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Excel &amp; Business Analysis</a:t>
            </a:r>
            <a:endParaRPr lang="en-US" sz="1300" dirty="0"/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653FCBA5-CD8F-FCB6-F1D2-C5817FAB4B24}"/>
              </a:ext>
            </a:extLst>
          </p:cNvPr>
          <p:cNvSpPr/>
          <p:nvPr/>
        </p:nvSpPr>
        <p:spPr>
          <a:xfrm>
            <a:off x="5669280" y="3282696"/>
            <a:ext cx="3108960" cy="27432"/>
          </a:xfrm>
          <a:prstGeom prst="rect">
            <a:avLst/>
          </a:prstGeom>
          <a:solidFill>
            <a:srgbClr val="C00810"/>
          </a:solidFill>
          <a:ln w="12700">
            <a:solidFill>
              <a:srgbClr val="C00810"/>
            </a:solidFill>
            <a:prstDash val="solid"/>
          </a:ln>
        </p:spPr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4182CD9C-4A3E-6F7D-ADFA-B3B6AAF39C8A}"/>
              </a:ext>
            </a:extLst>
          </p:cNvPr>
          <p:cNvSpPr/>
          <p:nvPr/>
        </p:nvSpPr>
        <p:spPr>
          <a:xfrm>
            <a:off x="5486400" y="3429000"/>
            <a:ext cx="347472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•  Open to Feedback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Collaboration Opportunities</a:t>
            </a:r>
            <a:endParaRPr lang="en-US" sz="12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1CE32D81-C9D6-02A9-3F25-E5BE77B1E202}"/>
              </a:ext>
            </a:extLst>
          </p:cNvPr>
          <p:cNvSpPr/>
          <p:nvPr/>
        </p:nvSpPr>
        <p:spPr>
          <a:xfrm>
            <a:off x="548640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01182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612</Words>
  <Application>Microsoft Office PowerPoint</Application>
  <PresentationFormat>On-screen Show (16:9)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Analysis</dc:title>
  <dc:subject>PptxGenJS Presentation</dc:subject>
  <dc:creator>Data Analysis Team</dc:creator>
  <cp:lastModifiedBy>Abhisek Nayak</cp:lastModifiedBy>
  <cp:revision>2</cp:revision>
  <dcterms:created xsi:type="dcterms:W3CDTF">2026-03-07T21:42:29Z</dcterms:created>
  <dcterms:modified xsi:type="dcterms:W3CDTF">2026-03-07T21:54:16Z</dcterms:modified>
</cp:coreProperties>
</file>